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37760" y="0"/>
            <a:ext cx="7253935" cy="6858000"/>
          </a:xfrm>
          <a:prstGeom prst="roundRect">
            <a:avLst>
              <a:gd name="adj" fmla="val 0"/>
            </a:avLst>
          </a:prstGeom>
          <a:solidFill>
            <a:srgbClr val="1E2124"/>
          </a:solidFill>
          <a:ln w="1905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2011680"/>
            <a:ext cx="62179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400" b="1" i="0">
                <a:solidFill>
                  <a:srgbClr val="C0F43C"/>
                </a:solidFill>
                <a:latin typeface="Anek Devanagari"/>
              </a:defRPr>
            </a:pPr>
            <a:r>
              <a:t>[ BRAND VISUAL PLACEHOLDER ]</a:t>
            </a:r>
          </a:p>
          <a:p>
            <a:pPr algn="l">
              <a:lnSpc>
                <a:spcPct val="140000"/>
              </a:lnSpc>
              <a:spcAft>
                <a:spcPts val="2000"/>
              </a:spcAft>
              <a:defRPr sz="1000" b="0" i="0">
                <a:solidFill>
                  <a:srgbClr val="E6EFF0"/>
                </a:solidFill>
                <a:latin typeface="Manrope"/>
              </a:defRPr>
            </a:pPr>
            <a:r>
              <a:t>Asset: High-Resolution Event Keynote / Digital Art Graphic</a:t>
            </a:r>
            <a:br/>
            <a:r>
              <a:t>Recommended Aspect Ratio: 16:9 or Full Height Cover Split</a:t>
            </a:r>
            <a:br/>
            <a:r>
              <a:t>Double-click to insert your custom editorial or corporate banner photo here.</a:t>
            </a:r>
          </a:p>
          <a:p>
            <a:pPr algn="l">
              <a:defRPr sz="900" b="0" i="1">
                <a:solidFill>
                  <a:srgbClr val="464D53"/>
                </a:solidFill>
                <a:latin typeface="Manrope"/>
              </a:defRPr>
            </a:pPr>
            <a:r>
              <a:t>Design Tip: Choose high contrast, dark-themed photography that aligns with Deep Teal and Electric Lime colors.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19472" y="0"/>
            <a:ext cx="18288" cy="6858000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92040" y="1828800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-years-trescon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640080"/>
            <a:ext cx="1344168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182880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1600"/>
              </a:spcAft>
              <a:defRPr sz="3000" b="1" i="0">
                <a:solidFill>
                  <a:srgbClr val="FFFFFF"/>
                </a:solidFill>
                <a:latin typeface="Anek Devanagari"/>
              </a:defRPr>
            </a:pPr>
            <a:r>
              <a:t>POWERING GLOBAL INNOVATION</a:t>
            </a:r>
            <a:br/>
            <a:r>
              <a:t>THROUGH HIGH-IMPACT</a:t>
            </a:r>
            <a:br/>
            <a:r>
              <a:t>BUSINESS EVENTS</a:t>
            </a:r>
          </a:p>
          <a:p>
            <a:pPr algn="l">
              <a:spcAft>
                <a:spcPts val="4800"/>
              </a:spcAft>
              <a:defRPr sz="1100" b="1" i="0">
                <a:solidFill>
                  <a:srgbClr val="C0F43C"/>
                </a:solidFill>
                <a:latin typeface="Manrope"/>
              </a:defRPr>
            </a:pPr>
            <a:r>
              <a:t>Connecting Businesses with Opportunities across 120+ countries — from concept to measurable outcomes.</a:t>
            </a:r>
            <a:br/>
            <a:br/>
            <a:r>
              <a:t>Global Business Events &amp; Services</a:t>
            </a:r>
          </a:p>
          <a:p>
            <a:pPr algn="l">
              <a:defRPr sz="850" b="1" i="0">
                <a:solidFill>
                  <a:srgbClr val="E6EFF0"/>
                </a:solidFill>
                <a:latin typeface="Anek Devanagari"/>
              </a:defRPr>
            </a:pPr>
            <a:r>
              <a:t>GLOBAL BUSINESS EVENTS &amp; SERVICES COMPANY  |  DUBAI • BANGALORE •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01.  WHO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  <a:defRPr sz="2600" b="1" i="0">
                <a:solidFill>
                  <a:srgbClr val="01373D"/>
                </a:solidFill>
                <a:latin typeface="Anek Devanagari"/>
              </a:defRPr>
            </a:pPr>
            <a:r>
              <a:t>Your Strategic Partner for Business Growth</a:t>
            </a:r>
          </a:p>
          <a:p>
            <a:pPr algn="l">
              <a:lnSpc>
                <a:spcPct val="130000"/>
              </a:lnSpc>
              <a:defRPr sz="1250" b="0" i="0">
                <a:solidFill>
                  <a:srgbClr val="464D53"/>
                </a:solidFill>
                <a:latin typeface="Manrope"/>
              </a:defRPr>
            </a:pPr>
            <a:r>
              <a:t>Trescon is a global business events and services company connecting organisations with decision-makers, governments, investors, and industry leaders worldwide.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4846320" cy="1463040"/>
          </a:xfrm>
          <a:prstGeom prst="roundRect">
            <a:avLst>
              <a:gd name="adj" fmla="val 3000"/>
            </a:avLst>
          </a:prstGeom>
          <a:solidFill>
            <a:srgbClr val="E6EFF0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8872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050" b="0" i="0">
                <a:solidFill>
                  <a:srgbClr val="01373D"/>
                </a:solidFill>
                <a:latin typeface="Manrope"/>
              </a:defRPr>
            </a:pPr>
            <a:r>
              <a:t>Since 2016, we have been enabling technology adoption, fostering strategic partnerships, and delivering measurable business outcomes through high-impact events, managed conferences, and bespoke engagements.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4846320" cy="1097280"/>
          </a:xfrm>
          <a:prstGeom prst="roundRect">
            <a:avLst>
              <a:gd name="adj" fmla="val 3000"/>
            </a:avLst>
          </a:prstGeom>
          <a:solidFill>
            <a:srgbClr val="01373D"/>
          </a:solidFill>
          <a:ln>
            <a:solidFill>
              <a:srgbClr val="01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73152" cy="1097280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nek Devanagari"/>
              </a:defRPr>
            </a:pPr>
            <a:r>
              <a:t>One Partner. End-to-End Execution. Global Reach.</a:t>
            </a:r>
            <a:br/>
            <a:r>
              <a:t>Strategy to ROI — managed under one roof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4389120"/>
            <a:ext cx="12191695" cy="2468880"/>
          </a:xfrm>
          <a:prstGeom prst="roundRect">
            <a:avLst>
              <a:gd name="adj" fmla="val 0"/>
            </a:avLst>
          </a:prstGeom>
          <a:solidFill>
            <a:srgbClr val="01373D"/>
          </a:solidFill>
          <a:ln>
            <a:solidFill>
              <a:srgbClr val="01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0" y="4389120"/>
            <a:ext cx="12191695" cy="54864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9966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C0F43C"/>
                </a:solidFill>
                <a:latin typeface="Anek Devanagari"/>
              </a:defRPr>
            </a:pPr>
            <a:r>
              <a:t>GLOBAL STRATEGY ROOM</a:t>
            </a:r>
          </a:p>
          <a:p>
            <a:pPr algn="l">
              <a:spcAft>
                <a:spcPts val="1000"/>
              </a:spcAft>
              <a:defRPr sz="1100" b="1" i="0">
                <a:solidFill>
                  <a:srgbClr val="FFFFFF"/>
                </a:solidFill>
                <a:latin typeface="Manrope"/>
              </a:defRPr>
            </a:pPr>
            <a:r>
              <a:t>120+ Markets • Real-time Intelligence</a:t>
            </a:r>
          </a:p>
          <a:p>
            <a:pPr algn="l">
              <a:defRPr sz="850" b="0" i="1">
                <a:solidFill>
                  <a:srgbClr val="E6EFF0"/>
                </a:solidFill>
                <a:latin typeface="Manrope"/>
              </a:defRPr>
            </a:pPr>
            <a:r>
              <a:t>[ PHOTO PLACEHOLDER: 1920x388 px - Executive Summit Crowds / Onsite Keynote ]</a:t>
            </a:r>
          </a:p>
        </p:txBody>
      </p:sp>
      <p:pic>
        <p:nvPicPr>
          <p:cNvPr id="15" name="Picture 14" descr="10-years-tres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dark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02.  TRESCON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114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  <a:defRPr sz="2800" b="1" i="0">
                <a:solidFill>
                  <a:srgbClr val="FFFFFF"/>
                </a:solidFill>
                <a:latin typeface="Anek Devanagari"/>
              </a:defRPr>
            </a:pPr>
            <a:r>
              <a:t>By the Numbers</a:t>
            </a:r>
          </a:p>
          <a:p>
            <a:pPr algn="l">
              <a:lnSpc>
                <a:spcPct val="130000"/>
              </a:lnSpc>
              <a:defRPr sz="1250" b="0" i="0">
                <a:solidFill>
                  <a:srgbClr val="E6EFF0"/>
                </a:solidFill>
                <a:latin typeface="Manrope"/>
              </a:defRPr>
            </a:pPr>
            <a:r>
              <a:t>By the Numbers — Measurable Global Impact</a:t>
            </a:r>
            <a:br/>
            <a:br/>
            <a:r>
              <a:t>Trescon at a glance: Eight years of consistent delivery across governments, enterprises and technology ecosystems.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280160"/>
            <a:ext cx="9144" cy="4572000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35331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2000" b="1" i="0">
                <a:solidFill>
                  <a:srgbClr val="C0F43C"/>
                </a:solidFill>
                <a:latin typeface="Anek Devanagari"/>
              </a:defRPr>
            </a:pPr>
            <a:r>
              <a:t>500+</a:t>
            </a:r>
          </a:p>
          <a:p>
            <a:pPr algn="l">
              <a:spcAft>
                <a:spcPts val="100"/>
              </a:spcAft>
              <a:defRPr sz="1000" b="1" i="0">
                <a:solidFill>
                  <a:srgbClr val="FFFFFF"/>
                </a:solidFill>
                <a:latin typeface="Manrope"/>
              </a:defRPr>
            </a:pPr>
            <a:r>
              <a:t>Events Delivered</a:t>
            </a:r>
          </a:p>
          <a:p>
            <a:pPr algn="l">
              <a:defRPr sz="850" b="0" i="1">
                <a:solidFill>
                  <a:srgbClr val="E6EFF0"/>
                </a:solidFill>
                <a:latin typeface="Manrope"/>
              </a:defRPr>
            </a:pPr>
            <a:r>
              <a:t>Across 120+ cities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377440"/>
            <a:ext cx="2743200" cy="9144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45059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2000" b="1" i="0">
                <a:solidFill>
                  <a:srgbClr val="C0F43C"/>
                </a:solidFill>
                <a:latin typeface="Anek Devanagari"/>
              </a:defRPr>
            </a:pPr>
            <a:r>
              <a:t>1M+</a:t>
            </a:r>
          </a:p>
          <a:p>
            <a:pPr algn="l">
              <a:spcAft>
                <a:spcPts val="100"/>
              </a:spcAft>
              <a:defRPr sz="1000" b="1" i="0">
                <a:solidFill>
                  <a:srgbClr val="FFFFFF"/>
                </a:solidFill>
                <a:latin typeface="Manrope"/>
              </a:defRPr>
            </a:pPr>
            <a:r>
              <a:t>Connections Facilitated</a:t>
            </a:r>
          </a:p>
          <a:p>
            <a:pPr algn="l">
              <a:defRPr sz="850" b="0" i="1">
                <a:solidFill>
                  <a:srgbClr val="E6EFF0"/>
                </a:solidFill>
                <a:latin typeface="Manrope"/>
              </a:defRPr>
            </a:pPr>
            <a:r>
              <a:t>Qualified introductions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474720"/>
            <a:ext cx="2743200" cy="9144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54787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2000" b="1" i="0">
                <a:solidFill>
                  <a:srgbClr val="C0F43C"/>
                </a:solidFill>
                <a:latin typeface="Anek Devanagari"/>
              </a:defRPr>
            </a:pPr>
            <a:r>
              <a:t>250K+</a:t>
            </a:r>
          </a:p>
          <a:p>
            <a:pPr algn="l">
              <a:spcAft>
                <a:spcPts val="100"/>
              </a:spcAft>
              <a:defRPr sz="1000" b="1" i="0">
                <a:solidFill>
                  <a:srgbClr val="FFFFFF"/>
                </a:solidFill>
                <a:latin typeface="Manrope"/>
              </a:defRPr>
            </a:pPr>
            <a:r>
              <a:t>C-Level Attendees</a:t>
            </a:r>
          </a:p>
          <a:p>
            <a:pPr algn="l">
              <a:defRPr sz="850" b="0" i="1">
                <a:solidFill>
                  <a:srgbClr val="E6EFF0"/>
                </a:solidFill>
                <a:latin typeface="Manrope"/>
              </a:defRPr>
            </a:pPr>
            <a:r>
              <a:t>Decision makers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572000"/>
            <a:ext cx="2743200" cy="9144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64515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2000" b="1" i="0">
                <a:solidFill>
                  <a:srgbClr val="C0F43C"/>
                </a:solidFill>
                <a:latin typeface="Anek Devanagari"/>
              </a:defRPr>
            </a:pPr>
            <a:r>
              <a:t>120+</a:t>
            </a:r>
          </a:p>
          <a:p>
            <a:pPr algn="l">
              <a:spcAft>
                <a:spcPts val="100"/>
              </a:spcAft>
              <a:defRPr sz="1000" b="1" i="0">
                <a:solidFill>
                  <a:srgbClr val="FFFFFF"/>
                </a:solidFill>
                <a:latin typeface="Manrope"/>
              </a:defRPr>
            </a:pPr>
            <a:r>
              <a:t>Countries Represented</a:t>
            </a:r>
          </a:p>
          <a:p>
            <a:pPr algn="l">
              <a:defRPr sz="850" b="0" i="1">
                <a:solidFill>
                  <a:srgbClr val="E6EFF0"/>
                </a:solidFill>
                <a:latin typeface="Manrope"/>
              </a:defRPr>
            </a:pPr>
            <a:r>
              <a:t>Global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35331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2000" b="1" i="0">
                <a:solidFill>
                  <a:srgbClr val="C0F43C"/>
                </a:solidFill>
                <a:latin typeface="Anek Devanagari"/>
              </a:defRPr>
            </a:pPr>
            <a:r>
              <a:t>100+</a:t>
            </a:r>
          </a:p>
          <a:p>
            <a:pPr algn="l">
              <a:spcAft>
                <a:spcPts val="100"/>
              </a:spcAft>
              <a:defRPr sz="1000" b="1" i="0">
                <a:solidFill>
                  <a:srgbClr val="FFFFFF"/>
                </a:solidFill>
                <a:latin typeface="Manrope"/>
              </a:defRPr>
            </a:pPr>
            <a:r>
              <a:t>Government Partnerships</a:t>
            </a:r>
          </a:p>
          <a:p>
            <a:pPr algn="l">
              <a:defRPr sz="850" b="0" i="1">
                <a:solidFill>
                  <a:srgbClr val="E6EFF0"/>
                </a:solidFill>
                <a:latin typeface="Manrope"/>
              </a:defRPr>
            </a:pPr>
            <a:r>
              <a:t>Mins. &amp; authorities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377440"/>
            <a:ext cx="2743200" cy="9144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45059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2000" b="1" i="0">
                <a:solidFill>
                  <a:srgbClr val="C0F43C"/>
                </a:solidFill>
                <a:latin typeface="Anek Devanagari"/>
              </a:defRPr>
            </a:pPr>
            <a:r>
              <a:t>5,000+</a:t>
            </a:r>
          </a:p>
          <a:p>
            <a:pPr algn="l">
              <a:spcAft>
                <a:spcPts val="100"/>
              </a:spcAft>
              <a:defRPr sz="1000" b="1" i="0">
                <a:solidFill>
                  <a:srgbClr val="FFFFFF"/>
                </a:solidFill>
                <a:latin typeface="Manrope"/>
              </a:defRPr>
            </a:pPr>
            <a:r>
              <a:t>Exhibitors</a:t>
            </a:r>
          </a:p>
          <a:p>
            <a:pPr algn="l">
              <a:defRPr sz="850" b="0" i="1">
                <a:solidFill>
                  <a:srgbClr val="E6EFF0"/>
                </a:solidFill>
                <a:latin typeface="Manrope"/>
              </a:defRPr>
            </a:pPr>
            <a:r>
              <a:t>Enterprise &amp; startups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474720"/>
            <a:ext cx="2743200" cy="9144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354787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2000" b="1" i="0">
                <a:solidFill>
                  <a:srgbClr val="C0F43C"/>
                </a:solidFill>
                <a:latin typeface="Anek Devanagari"/>
              </a:defRPr>
            </a:pPr>
            <a:r>
              <a:t>3,000+</a:t>
            </a:r>
          </a:p>
          <a:p>
            <a:pPr algn="l">
              <a:spcAft>
                <a:spcPts val="100"/>
              </a:spcAft>
              <a:defRPr sz="1000" b="1" i="0">
                <a:solidFill>
                  <a:srgbClr val="FFFFFF"/>
                </a:solidFill>
                <a:latin typeface="Manrope"/>
              </a:defRPr>
            </a:pPr>
            <a:r>
              <a:t>Global Speakers</a:t>
            </a:r>
          </a:p>
          <a:p>
            <a:pPr algn="l">
              <a:defRPr sz="850" b="0" i="1">
                <a:solidFill>
                  <a:srgbClr val="E6EFF0"/>
                </a:solidFill>
                <a:latin typeface="Manrope"/>
              </a:defRPr>
            </a:pPr>
            <a:r>
              <a:t>Industry leaders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4572000"/>
            <a:ext cx="2743200" cy="9144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464515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2000" b="1" i="0">
                <a:solidFill>
                  <a:srgbClr val="C0F43C"/>
                </a:solidFill>
                <a:latin typeface="Anek Devanagari"/>
              </a:defRPr>
            </a:pPr>
            <a:r>
              <a:t>250+</a:t>
            </a:r>
          </a:p>
          <a:p>
            <a:pPr algn="l">
              <a:spcAft>
                <a:spcPts val="100"/>
              </a:spcAft>
              <a:defRPr sz="1000" b="1" i="0">
                <a:solidFill>
                  <a:srgbClr val="FFFFFF"/>
                </a:solidFill>
                <a:latin typeface="Manrope"/>
              </a:defRPr>
            </a:pPr>
            <a:r>
              <a:t>Global Team Members</a:t>
            </a:r>
          </a:p>
          <a:p>
            <a:pPr algn="l">
              <a:defRPr sz="850" b="0" i="1">
                <a:solidFill>
                  <a:srgbClr val="E6EFF0"/>
                </a:solidFill>
                <a:latin typeface="Manrope"/>
              </a:defRPr>
            </a:pPr>
            <a:r>
              <a:t>Events, sales, tech</a:t>
            </a:r>
          </a:p>
        </p:txBody>
      </p:sp>
      <p:pic>
        <p:nvPicPr>
          <p:cNvPr id="22" name="Picture 21" descr="10-years-trescon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03.  WHY CHOOSE TRESCON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114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defRPr sz="2600" b="1" i="0">
                <a:solidFill>
                  <a:srgbClr val="01373D"/>
                </a:solidFill>
                <a:latin typeface="Anek Devanagari"/>
              </a:defRPr>
            </a:pPr>
            <a:r>
              <a:t>Why Global Organisations Choose Trescon</a:t>
            </a:r>
          </a:p>
          <a:p>
            <a:pPr algn="l">
              <a:lnSpc>
                <a:spcPct val="130000"/>
              </a:lnSpc>
              <a:spcAft>
                <a:spcPts val="2000"/>
              </a:spcAft>
              <a:defRPr sz="1150" b="0" i="0">
                <a:solidFill>
                  <a:srgbClr val="464D53"/>
                </a:solidFill>
                <a:latin typeface="Manrope"/>
              </a:defRPr>
            </a:pPr>
            <a:r>
              <a:t>From concept to execution, we deliver business outcomes — not just events.</a:t>
            </a:r>
            <a:br/>
            <a:br/>
            <a:r>
              <a:t>10 interlocked capabilities managing the full event lifecycle under one partner — strategy to measurable ROI.</a:t>
            </a:r>
          </a:p>
          <a:p>
            <a:pPr algn="l">
              <a:defRPr sz="1250" b="1" i="0">
                <a:solidFill>
                  <a:srgbClr val="00A5A3"/>
                </a:solidFill>
                <a:latin typeface="Manrope"/>
              </a:defRPr>
            </a:pPr>
            <a:r>
              <a:t>One partner model: Strategy to measurable ROI.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12618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01.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STRATEGY &amp; EVENT CONCEPT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Market mapping &amp; positioning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1887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52560" y="11887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2618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06.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MARKETING &amp; COMMS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Full-funnel demand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1031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21031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21762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02.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CONTENT &amp; SPEAKERS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Curated agenda &amp; network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1031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0" y="21031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21762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07.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PR &amp; MEDIA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Global communications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0175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0" y="30175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30906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03.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DELEGATE &amp; INVESTORS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Qualified C-level sourcing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0175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30175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30906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08.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OPERATIONS &amp; LOGISTICS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Venue &amp; onsite execution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9319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0" y="39319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40050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04.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SPONSORSHIP SALES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Enterprise partner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39319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52560" y="39319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7152" y="40050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09.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CUSTOMER SUCCESS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White-glove experience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48463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43600" y="48463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8192" y="49194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05.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BRANDING &amp; CREATIVE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Identity, stage &amp; digital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48463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52560" y="4846320"/>
            <a:ext cx="54864" cy="82296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2" y="4919472"/>
            <a:ext cx="2697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10.</a:t>
            </a:r>
          </a:p>
          <a:p>
            <a:pPr algn="l">
              <a:spcAft>
                <a:spcPts val="100"/>
              </a:spcAft>
              <a:defRPr sz="900" b="1" i="0">
                <a:solidFill>
                  <a:srgbClr val="01373D"/>
                </a:solidFill>
                <a:latin typeface="Anek Devanagari"/>
              </a:defRPr>
            </a:pPr>
            <a:r>
              <a:t>PROJECT MANAGEMENT</a:t>
            </a:r>
          </a:p>
          <a:p>
            <a:pPr algn="l">
              <a:defRPr sz="800" b="0" i="0">
                <a:solidFill>
                  <a:srgbClr val="464D53"/>
                </a:solidFill>
                <a:latin typeface="Manrope"/>
              </a:defRPr>
            </a:pPr>
            <a:r>
              <a:t>Single-threaded delivery</a:t>
            </a:r>
          </a:p>
        </p:txBody>
      </p:sp>
      <p:pic>
        <p:nvPicPr>
          <p:cNvPr id="37" name="Picture 36" descr="10-years-tres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04.  OUR BUSINESS DIVISIONS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463040"/>
            <a:ext cx="233172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463040"/>
            <a:ext cx="2331720" cy="73152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1965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950" b="1" i="0">
                <a:solidFill>
                  <a:srgbClr val="00A5A3"/>
                </a:solidFill>
                <a:latin typeface="Manrope"/>
              </a:defRPr>
            </a:pPr>
            <a:r>
              <a:t>FLAGSHIP</a:t>
            </a:r>
          </a:p>
          <a:p>
            <a:pPr algn="l">
              <a:spcAft>
                <a:spcPts val="1200"/>
              </a:spcAft>
              <a:defRPr sz="1300" b="1" i="0">
                <a:solidFill>
                  <a:srgbClr val="01373D"/>
                </a:solidFill>
                <a:latin typeface="Anek Devanagari"/>
              </a:defRPr>
            </a:pPr>
            <a:r>
              <a:t>Signature Events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464D53"/>
                </a:solidFill>
                <a:latin typeface="Manrope"/>
              </a:defRPr>
            </a:pPr>
            <a:r>
              <a:t>Large-scale conferences, expos and summits owned by Trescon — World AI Show, HODL, DATE and more. Proven IP with global communities.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8456" y="1371600"/>
            <a:ext cx="2331720" cy="4389120"/>
          </a:xfrm>
          <a:prstGeom prst="roundRect">
            <a:avLst>
              <a:gd name="adj" fmla="val 3000"/>
            </a:avLst>
          </a:prstGeom>
          <a:solidFill>
            <a:srgbClr val="01373D"/>
          </a:solidFill>
          <a:ln>
            <a:solidFill>
              <a:srgbClr val="01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48456" y="1371600"/>
            <a:ext cx="2331720" cy="73152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6" y="1737360"/>
            <a:ext cx="1965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950" b="1" i="0">
                <a:solidFill>
                  <a:srgbClr val="C0F43C"/>
                </a:solidFill>
                <a:latin typeface="Manrope"/>
              </a:defRPr>
            </a:pPr>
            <a:r>
              <a:t>GOV &amp; ENTERPRISE</a:t>
            </a:r>
          </a:p>
          <a:p>
            <a:pPr algn="l">
              <a:spcAft>
                <a:spcPts val="1200"/>
              </a:spcAft>
              <a:defRPr sz="1300" b="1" i="0">
                <a:solidFill>
                  <a:srgbClr val="FFFFFF"/>
                </a:solidFill>
                <a:latin typeface="Anek Devanagari"/>
              </a:defRPr>
            </a:pPr>
            <a:r>
              <a:t>Managed Events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E6EFF0"/>
                </a:solidFill>
                <a:latin typeface="Manrope"/>
              </a:defRPr>
            </a:pPr>
            <a:r>
              <a:t>End-to-end event management for governments, associations and enterprises. From concept, marketing to on-ground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63040"/>
            <a:ext cx="233172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2331720" cy="73152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20"/>
            <a:ext cx="1965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950" b="1" i="0">
                <a:solidFill>
                  <a:srgbClr val="00A5A3"/>
                </a:solidFill>
                <a:latin typeface="Manrope"/>
              </a:defRPr>
            </a:pPr>
            <a:r>
              <a:t>ROI FOCUSED</a:t>
            </a:r>
          </a:p>
          <a:p>
            <a:pPr algn="l">
              <a:spcAft>
                <a:spcPts val="1200"/>
              </a:spcAft>
              <a:defRPr sz="1300" b="1" i="0">
                <a:solidFill>
                  <a:srgbClr val="01373D"/>
                </a:solidFill>
                <a:latin typeface="Anek Devanagari"/>
              </a:defRPr>
            </a:pPr>
            <a:r>
              <a:t>Bespoke Events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464D53"/>
                </a:solidFill>
                <a:latin typeface="Manrope"/>
              </a:defRPr>
            </a:pPr>
            <a:r>
              <a:t>Custom executive engagements built around business objectives — pipeline, market entry, product launch and sales acceleration.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0808" y="1371600"/>
            <a:ext cx="2331720" cy="4389120"/>
          </a:xfrm>
          <a:prstGeom prst="roundRect">
            <a:avLst>
              <a:gd name="adj" fmla="val 3000"/>
            </a:avLst>
          </a:prstGeom>
          <a:solidFill>
            <a:srgbClr val="01373D"/>
          </a:solidFill>
          <a:ln>
            <a:solidFill>
              <a:srgbClr val="01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50808" y="1371600"/>
            <a:ext cx="2331720" cy="73152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1737360"/>
            <a:ext cx="1965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950" b="1" i="0">
                <a:solidFill>
                  <a:srgbClr val="C0F43C"/>
                </a:solidFill>
                <a:latin typeface="Manrope"/>
              </a:defRPr>
            </a:pPr>
            <a:r>
              <a:t>ENABLEMENT</a:t>
            </a:r>
          </a:p>
          <a:p>
            <a:pPr algn="l">
              <a:spcAft>
                <a:spcPts val="1200"/>
              </a:spcAft>
              <a:defRPr sz="1300" b="1" i="0">
                <a:solidFill>
                  <a:srgbClr val="FFFFFF"/>
                </a:solidFill>
                <a:latin typeface="Anek Devanagari"/>
              </a:defRPr>
            </a:pPr>
            <a:r>
              <a:t>Education &amp; Training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E6EFF0"/>
                </a:solidFill>
                <a:latin typeface="Manrope"/>
              </a:defRPr>
            </a:pPr>
            <a:r>
              <a:t>Training programmes, workshops and bootcamps enabling technology adoption and workforce skilling at scale with measurable outcomes.</a:t>
            </a:r>
          </a:p>
        </p:txBody>
      </p:sp>
      <p:pic>
        <p:nvPicPr>
          <p:cNvPr id="18" name="Picture 17" descr="10-years-tres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dark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05.  TRUSTED BY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C0F43C"/>
                </a:solidFill>
                <a:latin typeface="Anek Devanagari"/>
              </a:defRPr>
            </a:pPr>
            <a:r>
              <a:t>Trusted by Governments, Enterprises &amp; Global Technology Leaders — Ecosystem of 1M+ 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813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C0F43C"/>
                </a:solidFill>
                <a:latin typeface="Anek Devanagari"/>
              </a:defRPr>
            </a:pPr>
            <a:r>
              <a:t>GOVERNMENTS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4475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36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DUBAI GOV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18304" y="144475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1536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MINISTRY OF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4475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536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KSA MOC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2" y="144475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36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BENGALURU GOV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44475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536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DUBAI FUTURE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3500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C0F43C"/>
                </a:solidFill>
                <a:latin typeface="Anek Devanagari"/>
              </a:defRPr>
            </a:pPr>
            <a:r>
              <a:t>TECH PARTNERS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31343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4048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AWS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18304" y="231343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4" y="24048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ORACLE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1343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24048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MICROSOFT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71232" y="231343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2" y="24048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IBM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7696" y="231343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97696" y="24048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NEW RELIC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24160" y="231343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24048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HITACHI VANTARA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2186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C0F43C"/>
                </a:solidFill>
                <a:latin typeface="Anek Devanagari"/>
              </a:defRPr>
            </a:pPr>
            <a:r>
              <a:t>ENTERPRISES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318211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32735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EMIRATES NBD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18304" y="318211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32735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DP WORLD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318211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32735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CAREEM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71232" y="318211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1232" y="32735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E&amp;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97696" y="318211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97696" y="32735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INFOSYS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0873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C0F43C"/>
                </a:solidFill>
                <a:latin typeface="Anek Devanagari"/>
              </a:defRPr>
            </a:pPr>
            <a:r>
              <a:t>ASSOCIATIONS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405079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41422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DUBAI FINTECH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18304" y="405079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18304" y="41422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AI COUNCIL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405079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41422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CYBERSECURITY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71232" y="405079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1232" y="41422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CLOUD COLL.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97696" y="405079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97696" y="41422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SUSTAINABILITY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24160" y="405079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4160" y="41422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WEB3 ALLIANCE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49560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C0F43C"/>
                </a:solidFill>
                <a:latin typeface="Anek Devanagari"/>
              </a:defRPr>
            </a:pPr>
            <a:r>
              <a:t>MEDIA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91840" y="491947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50109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FORBES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18304" y="491947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18304" y="50109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BLOOMBERG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44768" y="491947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44768" y="50109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KHALEEJ TIMES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71232" y="4919472"/>
            <a:ext cx="1280160" cy="438912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9525">
            <a:solidFill>
              <a:srgbClr val="46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71232" y="50109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Manrope"/>
              </a:defRPr>
            </a:pPr>
            <a:r>
              <a:t>GULF NEWS</a:t>
            </a:r>
          </a:p>
        </p:txBody>
      </p:sp>
      <p:pic>
        <p:nvPicPr>
          <p:cNvPr id="64" name="Picture 63" descr="10-years-trescon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dark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06.  SIGNATURE EVENT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114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  <a:defRPr sz="2400" b="1" i="0">
                <a:solidFill>
                  <a:srgbClr val="FFFFFF"/>
                </a:solidFill>
                <a:latin typeface="Anek Devanagari"/>
              </a:defRPr>
            </a:pPr>
            <a:r>
              <a:t>Industry-Leading Platforms Driving Global Conversations</a:t>
            </a:r>
          </a:p>
          <a:p>
            <a:pPr algn="l">
              <a:lnSpc>
                <a:spcPct val="130000"/>
              </a:lnSpc>
              <a:defRPr sz="1250" b="0" i="0">
                <a:solidFill>
                  <a:srgbClr val="E6EFF0"/>
                </a:solidFill>
                <a:latin typeface="Manrope"/>
              </a:defRPr>
            </a:pPr>
            <a:r>
              <a:t>Driving conversations across AI, Web3, Cybersecurity, Cloud, Sustainability, Manufacturing and Digital Transformation.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280160"/>
            <a:ext cx="9144" cy="4572000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157276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Manrope"/>
              </a:defRPr>
            </a:pPr>
            <a:r>
              <a:t>AI</a:t>
            </a:r>
          </a:p>
          <a:p>
            <a:pPr algn="l">
              <a:spcAft>
                <a:spcPts val="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World AI Show</a:t>
            </a:r>
          </a:p>
          <a:p>
            <a:pPr algn="l">
              <a:defRPr sz="800" b="0" i="0">
                <a:solidFill>
                  <a:srgbClr val="E6EFF0"/>
                </a:solidFill>
                <a:latin typeface="Manrope"/>
              </a:defRPr>
            </a:pPr>
            <a:r>
              <a:t>Flagship AI summit, 50+ editions.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463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157276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Manrope"/>
              </a:defRPr>
            </a:pPr>
            <a:r>
              <a:t>WEB3</a:t>
            </a:r>
          </a:p>
          <a:p>
            <a:pPr algn="l">
              <a:spcAft>
                <a:spcPts val="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HODL</a:t>
            </a:r>
          </a:p>
          <a:p>
            <a:pPr algn="l">
              <a:defRPr sz="800" b="0" i="0">
                <a:solidFill>
                  <a:srgbClr val="E6EFF0"/>
                </a:solidFill>
                <a:latin typeface="Manrope"/>
              </a:defRPr>
            </a:pPr>
            <a:r>
              <a:t>Longest-running Web3 invest series.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606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271576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Manrope"/>
              </a:defRPr>
            </a:pPr>
            <a:r>
              <a:t>DIGITAL</a:t>
            </a:r>
          </a:p>
          <a:p>
            <a:pPr algn="l">
              <a:spcAft>
                <a:spcPts val="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DATE</a:t>
            </a:r>
          </a:p>
          <a:p>
            <a:pPr algn="l">
              <a:defRPr sz="800" b="0" i="0">
                <a:solidFill>
                  <a:srgbClr val="E6EFF0"/>
                </a:solidFill>
                <a:latin typeface="Manrope"/>
              </a:defRPr>
            </a:pPr>
            <a:r>
              <a:t>Digital acceleration expo for CXOs.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606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271576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Manrope"/>
              </a:defRPr>
            </a:pPr>
            <a:r>
              <a:t>CLOUD</a:t>
            </a:r>
          </a:p>
          <a:p>
            <a:pPr algn="l">
              <a:spcAft>
                <a:spcPts val="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World Cloud Show</a:t>
            </a:r>
          </a:p>
          <a:p>
            <a:pPr algn="l">
              <a:defRPr sz="800" b="0" i="0">
                <a:solidFill>
                  <a:srgbClr val="E6EFF0"/>
                </a:solidFill>
                <a:latin typeface="Manrope"/>
              </a:defRPr>
            </a:pPr>
            <a:r>
              <a:t>Cloud adoption &amp; infrastructure.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749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385876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Manrope"/>
              </a:defRPr>
            </a:pPr>
            <a:r>
              <a:t>SECURITY</a:t>
            </a:r>
          </a:p>
          <a:p>
            <a:pPr algn="l">
              <a:spcAft>
                <a:spcPts val="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World Cyber Security</a:t>
            </a:r>
          </a:p>
          <a:p>
            <a:pPr algn="l">
              <a:defRPr sz="800" b="0" i="0">
                <a:solidFill>
                  <a:srgbClr val="E6EFF0"/>
                </a:solidFill>
                <a:latin typeface="Manrope"/>
              </a:defRPr>
            </a:pPr>
            <a:r>
              <a:t>CISO-focused risk &amp; resilience.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749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385876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Manrope"/>
              </a:defRPr>
            </a:pPr>
            <a:r>
              <a:t>ESG</a:t>
            </a:r>
          </a:p>
          <a:p>
            <a:pPr algn="l">
              <a:spcAft>
                <a:spcPts val="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Future Sustainability</a:t>
            </a:r>
          </a:p>
          <a:p>
            <a:pPr algn="l">
              <a:defRPr sz="800" b="0" i="0">
                <a:solidFill>
                  <a:srgbClr val="E6EFF0"/>
                </a:solidFill>
                <a:latin typeface="Manrope"/>
              </a:defRPr>
            </a:pPr>
            <a:r>
              <a:t>Net-zero &amp; ESG with govts.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892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500176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Manrope"/>
              </a:defRPr>
            </a:pPr>
            <a:r>
              <a:t>MANUFACTURING</a:t>
            </a:r>
          </a:p>
          <a:p>
            <a:pPr algn="l">
              <a:spcAft>
                <a:spcPts val="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Future Factory Show</a:t>
            </a:r>
          </a:p>
          <a:p>
            <a:pPr algn="l">
              <a:defRPr sz="800" b="0" i="0">
                <a:solidFill>
                  <a:srgbClr val="E6EFF0"/>
                </a:solidFill>
                <a:latin typeface="Manrope"/>
              </a:defRPr>
            </a:pPr>
            <a:r>
              <a:t>Smart mfg &amp; Industry 4.0.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892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500176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Manrope"/>
              </a:defRPr>
            </a:pPr>
            <a:r>
              <a:t>HEALTHTECH</a:t>
            </a:r>
          </a:p>
          <a:p>
            <a:pPr algn="l">
              <a:spcAft>
                <a:spcPts val="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CARE</a:t>
            </a:r>
          </a:p>
          <a:p>
            <a:pPr algn="l">
              <a:defRPr sz="800" b="0" i="0">
                <a:solidFill>
                  <a:srgbClr val="E6EFF0"/>
                </a:solidFill>
                <a:latin typeface="Manrope"/>
              </a:defRPr>
            </a:pPr>
            <a:r>
              <a:t>Healthcare innovation &amp; care models.</a:t>
            </a:r>
          </a:p>
        </p:txBody>
      </p:sp>
      <p:pic>
        <p:nvPicPr>
          <p:cNvPr id="24" name="Picture 23" descr="10-years-trescon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07.  MANAGED EVENTS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  <a:defRPr sz="2200" b="1" i="0">
                <a:solidFill>
                  <a:srgbClr val="01373D"/>
                </a:solidFill>
                <a:latin typeface="Anek Devanagari"/>
              </a:defRPr>
            </a:pPr>
            <a:r>
              <a:t>Trusted by Governments and Leading Organisations to Deliver Flagships</a:t>
            </a:r>
          </a:p>
          <a:p>
            <a:pPr algn="l">
              <a:lnSpc>
                <a:spcPct val="130000"/>
              </a:lnSpc>
              <a:defRPr sz="1250" b="0" i="0">
                <a:solidFill>
                  <a:srgbClr val="464D53"/>
                </a:solidFill>
                <a:latin typeface="Manrope"/>
              </a:defRPr>
            </a:pPr>
            <a:r>
              <a:t>Trusted to conceptualise, market and execute flagship events with C-level acquisition, government protocol and P&amp;L ownership.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6304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73152" cy="13716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572768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Dubai FinTech Summit  |  Dubai • DIFC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464D53"/>
                </a:solidFill>
                <a:latin typeface="Manrope"/>
              </a:defRPr>
            </a:pPr>
            <a:r>
              <a:t>World's largest FinTech gathering under Dubai government | Finance • Government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0496" y="146304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0496" y="1463040"/>
            <a:ext cx="73152" cy="13716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23376" y="1572768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Future Sustainability Forum  |  UAE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464D53"/>
                </a:solidFill>
                <a:latin typeface="Manrope"/>
              </a:defRPr>
            </a:pPr>
            <a:r>
              <a:t>Sustainability &amp; ESG leadership with ministries &amp; funds | ESG • Net Zero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30175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3017520"/>
            <a:ext cx="73152" cy="13716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127248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Dubai AI Festival  |  Dubai AI Campus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464D53"/>
                </a:solidFill>
                <a:latin typeface="Manrope"/>
              </a:defRPr>
            </a:pPr>
            <a:r>
              <a:t>AI adoption festival powering enterprise transformation | AI • Festival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0496" y="30175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0496" y="3017520"/>
            <a:ext cx="73152" cy="13716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3376" y="3127248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World Police Summit  |  Dubai Police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464D53"/>
                </a:solidFill>
                <a:latin typeface="Manrope"/>
              </a:defRPr>
            </a:pPr>
            <a:r>
              <a:t>Global law enforcement technology and security innovation summit | Security • Gov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457200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0" y="4572000"/>
            <a:ext cx="73152" cy="13716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681728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Bengaluru Skill Summit  |  Karnataka Gov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464D53"/>
                </a:solidFill>
                <a:latin typeface="Manrope"/>
              </a:defRPr>
            </a:pPr>
            <a:r>
              <a:t>Skilling &amp; future of work summit enabling youth employability | Skilling • India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0496" y="457200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40496" y="4572000"/>
            <a:ext cx="73152" cy="13716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23376" y="4681728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Dubai Future Forum  |  Dubai Future Foundation</a:t>
            </a:r>
          </a:p>
          <a:p>
            <a:pPr algn="l">
              <a:lnSpc>
                <a:spcPct val="125000"/>
              </a:lnSpc>
              <a:defRPr sz="950" b="0" i="0">
                <a:solidFill>
                  <a:srgbClr val="464D53"/>
                </a:solidFill>
                <a:latin typeface="Manrope"/>
              </a:defRPr>
            </a:pPr>
            <a:r>
              <a:t>Futures thinking and moonshot innovation with DFF | Future • Innovation</a:t>
            </a:r>
          </a:p>
        </p:txBody>
      </p:sp>
      <p:pic>
        <p:nvPicPr>
          <p:cNvPr id="25" name="Picture 24" descr="10-years-tres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08.  BESPOKE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 i="0">
                <a:solidFill>
                  <a:srgbClr val="01373D"/>
                </a:solidFill>
                <a:latin typeface="Anek Devanagari"/>
              </a:defRPr>
            </a:pPr>
            <a:r>
              <a:t>Bespoke • ROI Led — Custom Events Designed Around Your Business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572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300" b="1" i="0">
                <a:solidFill>
                  <a:srgbClr val="01373D"/>
                </a:solidFill>
                <a:latin typeface="Anek Devanagari"/>
              </a:defRPr>
            </a:pPr>
            <a:r>
              <a:t>We help organisations:</a:t>
            </a:r>
          </a:p>
          <a:p>
            <a:pPr algn="l">
              <a:lnSpc>
                <a:spcPct val="150000"/>
              </a:lnSpc>
              <a:spcAft>
                <a:spcPts val="2400"/>
              </a:spcAft>
              <a:defRPr sz="1100" b="0" i="0">
                <a:solidFill>
                  <a:srgbClr val="464D53"/>
                </a:solidFill>
                <a:latin typeface="Manrope"/>
              </a:defRPr>
            </a:pPr>
            <a:r>
              <a:t>• Launch products to target C-level buyers</a:t>
            </a:r>
            <a:br/>
            <a:r>
              <a:t>• Generate qualified pipelines and accelerate sales</a:t>
            </a:r>
            <a:br/>
            <a:r>
              <a:t>• Build thought leadership in emerging sectors</a:t>
            </a:r>
            <a:br/>
            <a:r>
              <a:t>• Enter new global technology corridors</a:t>
            </a:r>
            <a:br/>
            <a:r>
              <a:t>• Engage key state &amp; enterprise decision-makers</a:t>
            </a:r>
          </a:p>
          <a:p>
            <a:pPr algn="l">
              <a:defRPr sz="1100" b="1" i="0">
                <a:solidFill>
                  <a:srgbClr val="00A5A3"/>
                </a:solidFill>
                <a:latin typeface="Manrope"/>
              </a:defRPr>
            </a:pPr>
            <a:r>
              <a:t>Every engagement is built around measurable business outcomes — not vanity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4876495" cy="914400"/>
          </a:xfrm>
          <a:prstGeom prst="roundRect">
            <a:avLst>
              <a:gd name="adj" fmla="val 3000"/>
            </a:avLst>
          </a:prstGeom>
          <a:solidFill>
            <a:srgbClr val="01373D"/>
          </a:solidFill>
          <a:ln>
            <a:solidFill>
              <a:srgbClr val="01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C0F43C"/>
                </a:solidFill>
                <a:latin typeface="Anek Devanagari"/>
              </a:defRPr>
            </a:pPr>
            <a:r>
              <a:t>27-70 meetings/ed.  |  ~68% C-level  |  120+ countries</a:t>
            </a:r>
          </a:p>
          <a:p>
            <a:pPr algn="l">
              <a:defRPr sz="1000" b="0" i="0">
                <a:solidFill>
                  <a:srgbClr val="FFFFFF"/>
                </a:solidFill>
                <a:latin typeface="Manrope"/>
              </a:defRPr>
            </a:pPr>
            <a:r>
              <a:t>Outcome first: Pipeline, pilots and partnership KPIs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4876495" cy="2834640"/>
          </a:xfrm>
          <a:prstGeom prst="roundRect">
            <a:avLst>
              <a:gd name="adj" fmla="val 4000"/>
            </a:avLst>
          </a:prstGeom>
          <a:solidFill>
            <a:srgbClr val="F6FAFA"/>
          </a:solidFill>
          <a:ln w="1905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108960"/>
            <a:ext cx="43891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[ B2B KEYNOTE IMAGE PLACEHOLDER ]</a:t>
            </a:r>
          </a:p>
          <a:p>
            <a:pPr algn="l">
              <a:lnSpc>
                <a:spcPct val="130000"/>
              </a:lnSpc>
              <a:defRPr sz="950" b="0" i="0">
                <a:solidFill>
                  <a:srgbClr val="464D53"/>
                </a:solidFill>
                <a:latin typeface="Manrope"/>
              </a:defRPr>
            </a:pPr>
            <a:r>
              <a:t>Asset: Closed-door VIP Boardroom or Matchmaking Session Photo</a:t>
            </a:r>
            <a:br/>
            <a:r>
              <a:t>Suggested Size: 5.3 x 3.1 Inches</a:t>
            </a:r>
            <a:br/>
            <a:r>
              <a:t>Double-click in PowerPoint to swap with your actual bespoke event networking visual.</a:t>
            </a:r>
          </a:p>
        </p:txBody>
      </p:sp>
      <p:pic>
        <p:nvPicPr>
          <p:cNvPr id="12" name="Picture 11" descr="10-years-tres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09.  WHY TRESCON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9997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 i="0">
                <a:solidFill>
                  <a:srgbClr val="01373D"/>
                </a:solidFill>
                <a:latin typeface="Anek Devanagari"/>
              </a:defRPr>
            </a:pPr>
            <a:r>
              <a:t>Why Clients Work With Trescon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46304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73152" cy="18288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5A3"/>
                </a:solidFill>
                <a:latin typeface="Anek Devanagari"/>
              </a:defRPr>
            </a:pPr>
            <a:r>
              <a:t>01.</a:t>
            </a:r>
          </a:p>
          <a:p>
            <a:pPr algn="l">
              <a:spcAft>
                <a:spcPts val="600"/>
              </a:spcAft>
              <a:defRPr sz="1150" b="1" i="0">
                <a:solidFill>
                  <a:srgbClr val="01373D"/>
                </a:solidFill>
                <a:latin typeface="Anek Devanagari"/>
              </a:defRPr>
            </a:pPr>
            <a:r>
              <a:t>Reach • Relevance</a:t>
            </a:r>
          </a:p>
          <a:p>
            <a:pPr algn="l">
              <a:lnSpc>
                <a:spcPct val="120000"/>
              </a:lnSpc>
              <a:defRPr sz="900" b="0" i="0">
                <a:solidFill>
                  <a:srgbClr val="464D53"/>
                </a:solidFill>
                <a:latin typeface="Manrope"/>
              </a:defRPr>
            </a:pPr>
            <a:r>
              <a:t>Global network across 120+ countries. Built through 500+ events and government alliances. Access where your buying committee sits.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146304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01373D"/>
          </a:solidFill>
          <a:ln>
            <a:solidFill>
              <a:srgbClr val="01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17136" y="1463040"/>
            <a:ext cx="73152" cy="1828800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600200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C0F43C"/>
                </a:solidFill>
                <a:latin typeface="Anek Devanagari"/>
              </a:defRPr>
            </a:pPr>
            <a:r>
              <a:t>02.</a:t>
            </a:r>
          </a:p>
          <a:p>
            <a:pPr algn="l">
              <a:spcAft>
                <a:spcPts val="600"/>
              </a:spcAft>
              <a:defRPr sz="1150" b="1" i="0">
                <a:solidFill>
                  <a:srgbClr val="FFFFFF"/>
                </a:solidFill>
                <a:latin typeface="Anek Devanagari"/>
              </a:defRPr>
            </a:pPr>
            <a:r>
              <a:t>68% C-level avg</a:t>
            </a:r>
          </a:p>
          <a:p>
            <a:pPr algn="l">
              <a:lnSpc>
                <a:spcPct val="120000"/>
              </a:lnSpc>
              <a:defRPr sz="900" b="0" i="0">
                <a:solidFill>
                  <a:srgbClr val="E6EFF0"/>
                </a:solidFill>
                <a:latin typeface="Manrope"/>
              </a:defRPr>
            </a:pPr>
            <a:r>
              <a:t>Access to qualified C-level decision-makers. 250k+ C-level attendees historically, with qualification and intent mapping.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146304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36992" y="1463040"/>
            <a:ext cx="73152" cy="18288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1600200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5A3"/>
                </a:solidFill>
                <a:latin typeface="Anek Devanagari"/>
              </a:defRPr>
            </a:pPr>
            <a:r>
              <a:t>03.</a:t>
            </a:r>
          </a:p>
          <a:p>
            <a:pPr algn="l">
              <a:spcAft>
                <a:spcPts val="600"/>
              </a:spcAft>
              <a:defRPr sz="1150" b="1" i="0">
                <a:solidFill>
                  <a:srgbClr val="01373D"/>
                </a:solidFill>
                <a:latin typeface="Anek Devanagari"/>
              </a:defRPr>
            </a:pPr>
            <a:r>
              <a:t>Trust • Access</a:t>
            </a:r>
          </a:p>
          <a:p>
            <a:pPr algn="l">
              <a:lnSpc>
                <a:spcPct val="120000"/>
              </a:lnSpc>
              <a:defRPr sz="900" b="0" i="0">
                <a:solidFill>
                  <a:srgbClr val="464D53"/>
                </a:solidFill>
                <a:latin typeface="Manrope"/>
              </a:defRPr>
            </a:pPr>
            <a:r>
              <a:t>Government and enterprise relationships. 100+ government partnerships enabling protocol, policy context and trusted convening power.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511296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3511296"/>
            <a:ext cx="73152" cy="18288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648456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5A3"/>
                </a:solidFill>
                <a:latin typeface="Anek Devanagari"/>
              </a:defRPr>
            </a:pPr>
            <a:r>
              <a:t>04.</a:t>
            </a:r>
          </a:p>
          <a:p>
            <a:pPr algn="l">
              <a:spcAft>
                <a:spcPts val="600"/>
              </a:spcAft>
              <a:defRPr sz="1150" b="1" i="0">
                <a:solidFill>
                  <a:srgbClr val="01373D"/>
                </a:solidFill>
                <a:latin typeface="Anek Devanagari"/>
              </a:defRPr>
            </a:pPr>
            <a:r>
              <a:t>Zero compromise</a:t>
            </a:r>
          </a:p>
          <a:p>
            <a:pPr algn="l">
              <a:lnSpc>
                <a:spcPct val="120000"/>
              </a:lnSpc>
              <a:defRPr sz="900" b="0" i="0">
                <a:solidFill>
                  <a:srgbClr val="464D53"/>
                </a:solidFill>
                <a:latin typeface="Manrope"/>
              </a:defRPr>
            </a:pPr>
            <a:r>
              <a:t>Proven event delivery capability. Stage production, content curation, logistics and hospitality — 8 years of flagship-grade execution.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3511296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17136" y="3511296"/>
            <a:ext cx="73152" cy="18288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648456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5A3"/>
                </a:solidFill>
                <a:latin typeface="Anek Devanagari"/>
              </a:defRPr>
            </a:pPr>
            <a:r>
              <a:t>05.</a:t>
            </a:r>
          </a:p>
          <a:p>
            <a:pPr algn="l">
              <a:spcAft>
                <a:spcPts val="600"/>
              </a:spcAft>
              <a:defRPr sz="1150" b="1" i="0">
                <a:solidFill>
                  <a:srgbClr val="01373D"/>
                </a:solidFill>
                <a:latin typeface="Anek Devanagari"/>
              </a:defRPr>
            </a:pPr>
            <a:r>
              <a:t>One P&amp;L</a:t>
            </a:r>
          </a:p>
          <a:p>
            <a:pPr algn="l">
              <a:lnSpc>
                <a:spcPct val="120000"/>
              </a:lnSpc>
              <a:defRPr sz="900" b="0" i="0">
                <a:solidFill>
                  <a:srgbClr val="464D53"/>
                </a:solidFill>
                <a:latin typeface="Manrope"/>
              </a:defRPr>
            </a:pPr>
            <a:r>
              <a:t>End-to-end execution under one partner. Strategy, sales, marketing, PR, ops and success — single-threaded ownership from concept to ROI.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36992" y="3511296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E6EFF0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36992" y="3511296"/>
            <a:ext cx="73152" cy="1828800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3648456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5A3"/>
                </a:solidFill>
                <a:latin typeface="Anek Devanagari"/>
              </a:defRPr>
            </a:pPr>
            <a:r>
              <a:t>06.</a:t>
            </a:r>
          </a:p>
          <a:p>
            <a:pPr algn="l">
              <a:spcAft>
                <a:spcPts val="600"/>
              </a:spcAft>
              <a:defRPr sz="1150" b="1" i="0">
                <a:solidFill>
                  <a:srgbClr val="01373D"/>
                </a:solidFill>
                <a:latin typeface="Anek Devanagari"/>
              </a:defRPr>
            </a:pPr>
            <a:r>
              <a:t>Measurable Outcomes</a:t>
            </a:r>
          </a:p>
          <a:p>
            <a:pPr algn="l">
              <a:lnSpc>
                <a:spcPct val="120000"/>
              </a:lnSpc>
              <a:defRPr sz="900" b="0" i="0">
                <a:solidFill>
                  <a:srgbClr val="464D53"/>
                </a:solidFill>
                <a:latin typeface="Manrope"/>
              </a:defRPr>
            </a:pPr>
            <a:r>
              <a:t>Results-driven approach backed by measurable KPIs. Pipeline meetings, qualified attendees, pilots booked — defined upfront and reported weekly.</a:t>
            </a:r>
          </a:p>
        </p:txBody>
      </p:sp>
      <p:pic>
        <p:nvPicPr>
          <p:cNvPr id="25" name="Picture 24" descr="10-years-tres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10.  SELECTED SUCCESS STORIES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99971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 i="0">
                <a:solidFill>
                  <a:srgbClr val="01373D"/>
                </a:solidFill>
                <a:latin typeface="Anek Devanagari"/>
              </a:defRPr>
            </a:pPr>
            <a:r>
              <a:t>Delivering Measurable Business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463040"/>
            <a:ext cx="31546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54680" cy="73152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645920"/>
            <a:ext cx="2788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400" b="1" i="0">
                <a:solidFill>
                  <a:srgbClr val="01373D"/>
                </a:solidFill>
                <a:latin typeface="Anek Devanagari"/>
              </a:defRPr>
            </a:pPr>
            <a:r>
              <a:t>AWS (ASEAN)</a:t>
            </a:r>
          </a:p>
          <a:p>
            <a:pPr algn="l">
              <a:spcAft>
                <a:spcPts val="200"/>
              </a:spcAft>
              <a:defRPr sz="850" b="1" i="0">
                <a:solidFill>
                  <a:srgbClr val="00A5A3"/>
                </a:solidFill>
                <a:latin typeface="Anek Devanagari"/>
              </a:defRPr>
            </a:pPr>
            <a:r>
              <a:t>OBJECTIVE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  <a:defRPr sz="1000" b="0" i="0">
                <a:solidFill>
                  <a:srgbClr val="464D53"/>
                </a:solidFill>
                <a:latin typeface="Manrope"/>
              </a:defRPr>
            </a:pPr>
            <a:r>
              <a:t>Expand Greenfield cloud adoption across ASEAN.</a:t>
            </a:r>
          </a:p>
          <a:p>
            <a:pPr algn="l">
              <a:spcAft>
                <a:spcPts val="200"/>
              </a:spcAft>
              <a:defRPr sz="850" b="1" i="0">
                <a:solidFill>
                  <a:srgbClr val="00A5A3"/>
                </a:solidFill>
                <a:latin typeface="Anek Devanagari"/>
              </a:defRPr>
            </a:pPr>
            <a:r>
              <a:t>RESULT &amp; IMPACT</a:t>
            </a:r>
          </a:p>
          <a:p>
            <a:pPr algn="l">
              <a:lnSpc>
                <a:spcPct val="125000"/>
              </a:lnSpc>
              <a:defRPr sz="950" b="1" i="0">
                <a:solidFill>
                  <a:srgbClr val="464D53"/>
                </a:solidFill>
                <a:latin typeface="Manrope"/>
              </a:defRPr>
            </a:pPr>
            <a:r>
              <a:t>27 qualified enterprise meetings, Pilot programme opportunities, Increased enterprise engagement.</a:t>
            </a:r>
            <a:br/>
            <a:br/>
            <a:r>
              <a:t>Metrics: 27 meetings • ASEAN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1371600"/>
            <a:ext cx="3154680" cy="4389120"/>
          </a:xfrm>
          <a:prstGeom prst="roundRect">
            <a:avLst>
              <a:gd name="adj" fmla="val 3000"/>
            </a:avLst>
          </a:prstGeom>
          <a:solidFill>
            <a:srgbClr val="01373D"/>
          </a:solidFill>
          <a:ln>
            <a:solidFill>
              <a:srgbClr val="01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17136" y="1371600"/>
            <a:ext cx="3154680" cy="73152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737360"/>
            <a:ext cx="2788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400" b="1" i="0">
                <a:solidFill>
                  <a:srgbClr val="FFFFFF"/>
                </a:solidFill>
                <a:latin typeface="Anek Devanagari"/>
              </a:defRPr>
            </a:pPr>
            <a:r>
              <a:t>NEW RELIC (INDIA)</a:t>
            </a:r>
          </a:p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Anek Devanagari"/>
              </a:defRPr>
            </a:pPr>
            <a:r>
              <a:t>OBJECTIVE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  <a:defRPr sz="1000" b="0" i="0">
                <a:solidFill>
                  <a:srgbClr val="E6EFF0"/>
                </a:solidFill>
                <a:latin typeface="Manrope"/>
              </a:defRPr>
            </a:pPr>
            <a:r>
              <a:t>Build market awareness in India.</a:t>
            </a:r>
          </a:p>
          <a:p>
            <a:pPr algn="l">
              <a:spcAft>
                <a:spcPts val="200"/>
              </a:spcAft>
              <a:defRPr sz="850" b="1" i="0">
                <a:solidFill>
                  <a:srgbClr val="C0F43C"/>
                </a:solidFill>
                <a:latin typeface="Anek Devanagari"/>
              </a:defRPr>
            </a:pPr>
            <a:r>
              <a:t>RESULT &amp; IMPACT</a:t>
            </a:r>
          </a:p>
          <a:p>
            <a:pPr algn="l">
              <a:lnSpc>
                <a:spcPct val="125000"/>
              </a:lnSpc>
              <a:defRPr sz="950" b="1" i="0">
                <a:solidFill>
                  <a:srgbClr val="E6EFF0"/>
                </a:solidFill>
                <a:latin typeface="Manrope"/>
              </a:defRPr>
            </a:pPr>
            <a:r>
              <a:t>70 qualified attendees, Product-market validation, Strong GTM business pipeline.</a:t>
            </a:r>
            <a:br/>
            <a:br/>
            <a:r>
              <a:t>Metrics: 70 qualified • India GTM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1463040"/>
            <a:ext cx="31546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36992" y="1463040"/>
            <a:ext cx="3154680" cy="73152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1645920"/>
            <a:ext cx="2788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400" b="1" i="0">
                <a:solidFill>
                  <a:srgbClr val="01373D"/>
                </a:solidFill>
                <a:latin typeface="Anek Devanagari"/>
              </a:defRPr>
            </a:pPr>
            <a:r>
              <a:t>HITACHI VANTARA + ORACLE</a:t>
            </a:r>
          </a:p>
          <a:p>
            <a:pPr algn="l">
              <a:spcAft>
                <a:spcPts val="200"/>
              </a:spcAft>
              <a:defRPr sz="850" b="1" i="0">
                <a:solidFill>
                  <a:srgbClr val="00A5A3"/>
                </a:solidFill>
                <a:latin typeface="Anek Devanagari"/>
              </a:defRPr>
            </a:pPr>
            <a:r>
              <a:t>OBJECTIVE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  <a:defRPr sz="1000" b="0" i="0">
                <a:solidFill>
                  <a:srgbClr val="464D53"/>
                </a:solidFill>
                <a:latin typeface="Manrope"/>
              </a:defRPr>
            </a:pPr>
            <a:r>
              <a:t>Grow strategic partnerships.</a:t>
            </a:r>
          </a:p>
          <a:p>
            <a:pPr algn="l">
              <a:spcAft>
                <a:spcPts val="200"/>
              </a:spcAft>
              <a:defRPr sz="850" b="1" i="0">
                <a:solidFill>
                  <a:srgbClr val="00A5A3"/>
                </a:solidFill>
                <a:latin typeface="Anek Devanagari"/>
              </a:defRPr>
            </a:pPr>
            <a:r>
              <a:t>RESULT &amp; IMPACT</a:t>
            </a:r>
          </a:p>
          <a:p>
            <a:pPr algn="l">
              <a:lnSpc>
                <a:spcPct val="125000"/>
              </a:lnSpc>
              <a:defRPr sz="950" b="1" i="0">
                <a:solidFill>
                  <a:srgbClr val="464D53"/>
                </a:solidFill>
                <a:latin typeface="Manrope"/>
              </a:defRPr>
            </a:pPr>
            <a:r>
              <a:t>39 qualified enterprise attendees, Stronger partner ecosystem, Increased solution awareness.</a:t>
            </a:r>
            <a:br/>
            <a:br/>
            <a:r>
              <a:t>Metrics: 39 enterprise • 2x partners</a:t>
            </a:r>
          </a:p>
        </p:txBody>
      </p:sp>
      <p:pic>
        <p:nvPicPr>
          <p:cNvPr id="16" name="Picture 15" descr="10-years-tres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dark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11.  UPCOMING FLAGSHIP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1" i="0">
                <a:solidFill>
                  <a:srgbClr val="C0F43C"/>
                </a:solidFill>
                <a:latin typeface="Manrope"/>
              </a:defRPr>
            </a:pPr>
            <a:r>
              <a:t>Meet us across the world's leading innovation ecosystems. Calendar is dynamic — confirm on 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1828800" cy="411480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1828800" cy="54864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1554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  <a:defRPr sz="1800" b="1" i="0">
                <a:solidFill>
                  <a:srgbClr val="C0F43C"/>
                </a:solidFill>
                <a:latin typeface="Anek Devanagari"/>
              </a:defRPr>
            </a:pPr>
            <a:r>
              <a:t>01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DUBAI FINTECH SUMMIT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CATEGORY</a:t>
            </a:r>
          </a:p>
          <a:p>
            <a:pPr algn="l">
              <a:spcAft>
                <a:spcPts val="1600"/>
              </a:spcAft>
              <a:defRPr sz="900" b="0" i="0">
                <a:solidFill>
                  <a:srgbClr val="E6EFF0"/>
                </a:solidFill>
                <a:latin typeface="Manrope"/>
              </a:defRPr>
            </a:pPr>
            <a:r>
              <a:t>May 2025 • Dubai</a:t>
            </a:r>
            <a:br/>
            <a:r>
              <a:t>FinTech | Flagship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LOCATION</a:t>
            </a:r>
          </a:p>
          <a:p>
            <a:pPr algn="l">
              <a:defRPr sz="900" b="1" i="0">
                <a:solidFill>
                  <a:srgbClr val="E6EFF0"/>
                </a:solidFill>
                <a:latin typeface="Manrope"/>
              </a:defRPr>
            </a:pPr>
            <a:r>
              <a:t>Madinat Jumeirah, Dubai, UAE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39135" y="1645920"/>
            <a:ext cx="1828800" cy="411480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39135" y="1645920"/>
            <a:ext cx="1828800" cy="54864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6295" y="1920240"/>
            <a:ext cx="1554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  <a:defRPr sz="1800" b="1" i="0">
                <a:solidFill>
                  <a:srgbClr val="C0F43C"/>
                </a:solidFill>
                <a:latin typeface="Anek Devanagari"/>
              </a:defRPr>
            </a:pPr>
            <a:r>
              <a:t>02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FUTURE SUSTAINABILITY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CATEGORY</a:t>
            </a:r>
          </a:p>
          <a:p>
            <a:pPr algn="l">
              <a:spcAft>
                <a:spcPts val="1600"/>
              </a:spcAft>
              <a:defRPr sz="900" b="0" i="0">
                <a:solidFill>
                  <a:srgbClr val="E6EFF0"/>
                </a:solidFill>
                <a:latin typeface="Manrope"/>
              </a:defRPr>
            </a:pPr>
            <a:r>
              <a:t>June 2025 • Dubai</a:t>
            </a:r>
            <a:br/>
            <a:r>
              <a:t>ESG | Gov-led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LOCATION</a:t>
            </a:r>
          </a:p>
          <a:p>
            <a:pPr algn="l">
              <a:defRPr sz="900" b="1" i="0">
                <a:solidFill>
                  <a:srgbClr val="E6EFF0"/>
                </a:solidFill>
                <a:latin typeface="Manrope"/>
              </a:defRPr>
            </a:pPr>
            <a:r>
              <a:t>Museum of Future, Dubai, UAE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80990" y="1645920"/>
            <a:ext cx="1828800" cy="411480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80990" y="1645920"/>
            <a:ext cx="1828800" cy="54864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8150" y="1920240"/>
            <a:ext cx="1554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  <a:defRPr sz="1800" b="1" i="0">
                <a:solidFill>
                  <a:srgbClr val="C0F43C"/>
                </a:solidFill>
                <a:latin typeface="Anek Devanagari"/>
              </a:defRPr>
            </a:pPr>
            <a:r>
              <a:t>03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FUTURE ISLAMIC FINANCE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CATEGORY</a:t>
            </a:r>
          </a:p>
          <a:p>
            <a:pPr algn="l">
              <a:spcAft>
                <a:spcPts val="1600"/>
              </a:spcAft>
              <a:defRPr sz="900" b="0" i="0">
                <a:solidFill>
                  <a:srgbClr val="E6EFF0"/>
                </a:solidFill>
                <a:latin typeface="Manrope"/>
              </a:defRPr>
            </a:pPr>
            <a:r>
              <a:t>Q3 2025 • GCC</a:t>
            </a:r>
            <a:br/>
            <a:r>
              <a:t>Finance | New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LOCATION</a:t>
            </a:r>
          </a:p>
          <a:p>
            <a:pPr algn="l">
              <a:defRPr sz="900" b="1" i="0">
                <a:solidFill>
                  <a:srgbClr val="E6EFF0"/>
                </a:solidFill>
                <a:latin typeface="Manrope"/>
              </a:defRPr>
            </a:pPr>
            <a:r>
              <a:t>Dubai / Riyadh, GCC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2845" y="1645920"/>
            <a:ext cx="1828800" cy="411480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2845" y="1645920"/>
            <a:ext cx="1828800" cy="54864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005" y="1920240"/>
            <a:ext cx="1554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  <a:defRPr sz="1800" b="1" i="0">
                <a:solidFill>
                  <a:srgbClr val="C0F43C"/>
                </a:solidFill>
                <a:latin typeface="Anek Devanagari"/>
              </a:defRPr>
            </a:pPr>
            <a:r>
              <a:t>04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BENGALURU SKILL SUMMIT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CATEGORY</a:t>
            </a:r>
          </a:p>
          <a:p>
            <a:pPr algn="l">
              <a:spcAft>
                <a:spcPts val="1600"/>
              </a:spcAft>
              <a:defRPr sz="900" b="0" i="0">
                <a:solidFill>
                  <a:srgbClr val="E6EFF0"/>
                </a:solidFill>
                <a:latin typeface="Manrope"/>
              </a:defRPr>
            </a:pPr>
            <a:r>
              <a:t>Q3 2025 • India</a:t>
            </a:r>
            <a:br/>
            <a:r>
              <a:t>Skilling | India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LOCATION</a:t>
            </a:r>
          </a:p>
          <a:p>
            <a:pPr algn="l">
              <a:defRPr sz="900" b="1" i="0">
                <a:solidFill>
                  <a:srgbClr val="E6EFF0"/>
                </a:solidFill>
                <a:latin typeface="Manrope"/>
              </a:defRPr>
            </a:pPr>
            <a:r>
              <a:t>BIEC, Bengaluru, India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4700" y="1645920"/>
            <a:ext cx="1828800" cy="4114800"/>
          </a:xfrm>
          <a:prstGeom prst="roundRect">
            <a:avLst>
              <a:gd name="adj" fmla="val 8000"/>
            </a:avLst>
          </a:prstGeom>
          <a:solidFill>
            <a:srgbClr val="1E2124"/>
          </a:solidFill>
          <a:ln w="12700"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64700" y="1645920"/>
            <a:ext cx="1828800" cy="54864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860" y="1920240"/>
            <a:ext cx="1554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  <a:defRPr sz="1800" b="1" i="0">
                <a:solidFill>
                  <a:srgbClr val="C0F43C"/>
                </a:solidFill>
                <a:latin typeface="Anek Devanagari"/>
              </a:defRPr>
            </a:pPr>
            <a:r>
              <a:t>05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defRPr sz="1100" b="1" i="0">
                <a:solidFill>
                  <a:srgbClr val="FFFFFF"/>
                </a:solidFill>
                <a:latin typeface="Anek Devanagari"/>
              </a:defRPr>
            </a:pPr>
            <a:r>
              <a:t>FUTURE FACTORY SHOW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CATEGORY</a:t>
            </a:r>
          </a:p>
          <a:p>
            <a:pPr algn="l">
              <a:spcAft>
                <a:spcPts val="1600"/>
              </a:spcAft>
              <a:defRPr sz="900" b="0" i="0">
                <a:solidFill>
                  <a:srgbClr val="E6EFF0"/>
                </a:solidFill>
                <a:latin typeface="Manrope"/>
              </a:defRPr>
            </a:pPr>
            <a:r>
              <a:t>Q4 2025 • Global</a:t>
            </a:r>
            <a:br/>
            <a:r>
              <a:t>Industrial | Global</a:t>
            </a:r>
          </a:p>
          <a:p>
            <a:pPr algn="l">
              <a:spcAft>
                <a:spcPts val="200"/>
              </a:spcAft>
              <a:defRPr sz="800" b="1" i="0">
                <a:solidFill>
                  <a:srgbClr val="00A5A3"/>
                </a:solidFill>
                <a:latin typeface="Manrope"/>
              </a:defRPr>
            </a:pPr>
            <a:r>
              <a:t>LOCATION</a:t>
            </a:r>
          </a:p>
          <a:p>
            <a:pPr algn="l">
              <a:defRPr sz="900" b="1" i="0">
                <a:solidFill>
                  <a:srgbClr val="E6EFF0"/>
                </a:solidFill>
                <a:latin typeface="Manrope"/>
              </a:defRPr>
            </a:pPr>
            <a:r>
              <a:t>Dubai • Berlin, Global</a:t>
            </a:r>
          </a:p>
        </p:txBody>
      </p:sp>
      <p:pic>
        <p:nvPicPr>
          <p:cNvPr id="22" name="Picture 21" descr="10-years-trescon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57200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01373D"/>
                </a:solidFill>
                <a:latin typeface="Anek Devanagari"/>
              </a:defRPr>
            </a:pPr>
            <a:r>
              <a:t>12. 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9997135" cy="18288"/>
          </a:xfrm>
          <a:prstGeom prst="rect">
            <a:avLst/>
          </a:prstGeom>
          <a:solidFill>
            <a:srgbClr val="00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95528"/>
            <a:ext cx="73152" cy="73152"/>
          </a:xfrm>
          <a:prstGeom prst="rect">
            <a:avLst/>
          </a:prstGeom>
          <a:solidFill>
            <a:srgbClr val="C0F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233172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371600"/>
            <a:ext cx="2331720" cy="54864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1554480"/>
            <a:ext cx="2011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LEADER 01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00" b="1" i="0">
                <a:solidFill>
                  <a:srgbClr val="01373D"/>
                </a:solidFill>
                <a:latin typeface="Anek Devanagari"/>
              </a:defRPr>
            </a:pPr>
            <a:r>
              <a:t>FOUNDER &amp;</a:t>
            </a:r>
            <a:br/>
            <a:r>
              <a:t>CHAIRMAN</a:t>
            </a:r>
          </a:p>
          <a:p>
            <a:pPr algn="l">
              <a:lnSpc>
                <a:spcPct val="125000"/>
              </a:lnSpc>
              <a:defRPr sz="1000" b="0" i="0">
                <a:solidFill>
                  <a:srgbClr val="464D53"/>
                </a:solidFill>
                <a:latin typeface="Manrope"/>
              </a:defRPr>
            </a:pPr>
            <a:r>
              <a:t>Vision, Gov Relations &amp; Global Growth |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8456" y="1371600"/>
            <a:ext cx="233172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48456" y="1371600"/>
            <a:ext cx="2331720" cy="54864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554480"/>
            <a:ext cx="2011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LEADER 02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00" b="1" i="0">
                <a:solidFill>
                  <a:srgbClr val="01373D"/>
                </a:solidFill>
                <a:latin typeface="Anek Devanagari"/>
              </a:defRPr>
            </a:pPr>
            <a:r>
              <a:t>CO-FOUNDER &amp;</a:t>
            </a:r>
            <a:br/>
            <a:r>
              <a:t>VICE CHAIRMAN</a:t>
            </a:r>
          </a:p>
          <a:p>
            <a:pPr algn="l">
              <a:lnSpc>
                <a:spcPct val="125000"/>
              </a:lnSpc>
              <a:defRPr sz="1000" b="0" i="0">
                <a:solidFill>
                  <a:srgbClr val="464D53"/>
                </a:solidFill>
                <a:latin typeface="Manrope"/>
              </a:defRPr>
            </a:pPr>
            <a:r>
              <a:t>Strategy &amp; Business Development |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71600"/>
            <a:ext cx="233172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2331720" cy="54864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554480"/>
            <a:ext cx="2011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LEADER 03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00" b="1" i="0">
                <a:solidFill>
                  <a:srgbClr val="01373D"/>
                </a:solidFill>
                <a:latin typeface="Anek Devanagari"/>
              </a:defRPr>
            </a:pPr>
            <a:r>
              <a:t>GROUP CEO</a:t>
            </a:r>
          </a:p>
          <a:p>
            <a:pPr algn="l">
              <a:lnSpc>
                <a:spcPct val="125000"/>
              </a:lnSpc>
              <a:defRPr sz="1000" b="0" i="0">
                <a:solidFill>
                  <a:srgbClr val="464D53"/>
                </a:solidFill>
                <a:latin typeface="Manrope"/>
              </a:defRPr>
            </a:pPr>
            <a:r>
              <a:t>Operations, Product &amp; Commercial | Executive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0808" y="1371600"/>
            <a:ext cx="233172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50808" y="1371600"/>
            <a:ext cx="2331720" cy="54864"/>
          </a:xfrm>
          <a:prstGeom prst="roundRect">
            <a:avLst>
              <a:gd name="adj" fmla="val 0"/>
            </a:avLst>
          </a:prstGeom>
          <a:solidFill>
            <a:srgbClr val="00A5A3"/>
          </a:solidFill>
          <a:ln>
            <a:solidFill>
              <a:srgbClr val="00A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554480"/>
            <a:ext cx="2011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00A5A3"/>
                </a:solidFill>
                <a:latin typeface="Manrope"/>
              </a:defRPr>
            </a:pPr>
            <a:r>
              <a:t>LEADER 04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1300" b="1" i="0">
                <a:solidFill>
                  <a:srgbClr val="01373D"/>
                </a:solidFill>
                <a:latin typeface="Anek Devanagari"/>
              </a:defRPr>
            </a:pPr>
            <a:r>
              <a:t>MANAGING</a:t>
            </a:r>
            <a:br/>
            <a:r>
              <a:t>DIRECTOR</a:t>
            </a:r>
          </a:p>
          <a:p>
            <a:pPr algn="l">
              <a:lnSpc>
                <a:spcPct val="125000"/>
              </a:lnSpc>
              <a:defRPr sz="1000" b="0" i="0">
                <a:solidFill>
                  <a:srgbClr val="464D53"/>
                </a:solidFill>
                <a:latin typeface="Manrope"/>
              </a:defRPr>
            </a:pPr>
            <a:r>
              <a:t>Delivery, Marketing &amp; Partnerships |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480560"/>
            <a:ext cx="9997135" cy="1188720"/>
          </a:xfrm>
          <a:prstGeom prst="roundRect">
            <a:avLst>
              <a:gd name="adj" fmla="val 3000"/>
            </a:avLst>
          </a:prstGeom>
          <a:solidFill>
            <a:srgbClr val="01373D"/>
          </a:solidFill>
          <a:ln>
            <a:solidFill>
              <a:srgbClr val="01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4480560"/>
            <a:ext cx="73152" cy="1188720"/>
          </a:xfrm>
          <a:prstGeom prst="roundRect">
            <a:avLst>
              <a:gd name="adj" fmla="val 0"/>
            </a:avLst>
          </a:prstGeom>
          <a:solidFill>
            <a:srgbClr val="C0F43C"/>
          </a:solidFill>
          <a:ln>
            <a:solidFill>
              <a:srgbClr val="C0F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617720"/>
            <a:ext cx="91440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950" b="1" i="0">
                <a:solidFill>
                  <a:srgbClr val="C0F43C"/>
                </a:solidFill>
                <a:latin typeface="Anek Devanagari"/>
              </a:defRPr>
            </a:pPr>
            <a:r>
              <a:t>GLOBAL TALENT INFRASTRUCTURE  |  BUILT FOR C-LEVEL OUTCOMES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 sz="1100" b="1" i="0">
                <a:solidFill>
                  <a:srgbClr val="FFFFFF"/>
                </a:solidFill>
                <a:latin typeface="Manrope"/>
              </a:defRPr>
            </a:pPr>
            <a:r>
              <a:t>Supported by 250+ professionals worldwide across sales, content, design, ops, marketing and customer success. Every function runs as a revenue center with pipeline targets.</a:t>
            </a:r>
          </a:p>
          <a:p>
            <a:pPr algn="l">
              <a:defRPr sz="950" b="0" i="0">
                <a:solidFill>
                  <a:srgbClr val="E6EFF0"/>
                </a:solidFill>
                <a:latin typeface="Manrope"/>
              </a:defRPr>
            </a:pPr>
            <a:r>
              <a:t>Specialties: Event Ops • Marketing • Commercial • Production • Tech • Content</a:t>
            </a:r>
          </a:p>
        </p:txBody>
      </p:sp>
      <p:pic>
        <p:nvPicPr>
          <p:cNvPr id="21" name="Picture 20" descr="10-years-tresc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989320"/>
            <a:ext cx="8229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escon_closing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10-years-trescon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120640"/>
            <a:ext cx="1344168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645920"/>
            <a:ext cx="7772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1600"/>
              </a:spcAft>
              <a:defRPr sz="3200" b="1" i="0">
                <a:solidFill>
                  <a:srgbClr val="FFFFFF"/>
                </a:solidFill>
                <a:latin typeface="Anek Devanagari"/>
              </a:defRPr>
            </a:pPr>
            <a:r>
              <a:t>Ready to Scale with Trescon — Let's Build Your Next High-Impact Event</a:t>
            </a:r>
          </a:p>
          <a:p>
            <a:pPr algn="l">
              <a:lnSpc>
                <a:spcPct val="130000"/>
              </a:lnSpc>
              <a:spcAft>
                <a:spcPts val="2200"/>
              </a:spcAft>
              <a:defRPr sz="1250" b="0" i="0">
                <a:solidFill>
                  <a:srgbClr val="E6EFF0"/>
                </a:solidFill>
                <a:latin typeface="Manrope"/>
              </a:defRPr>
            </a:pPr>
            <a:r>
              <a:t>Whether you're launching a flagship summit, expanding into new markets, or engaging enterprise buyers, Trescon delivers the strategy, audience and execution to make it happen.</a:t>
            </a:r>
          </a:p>
          <a:p>
            <a:pPr algn="l">
              <a:defRPr sz="1000" b="1" i="0">
                <a:solidFill>
                  <a:srgbClr val="C0F43C"/>
                </a:solidFill>
                <a:latin typeface="Anek Devanagari"/>
              </a:defRPr>
            </a:pPr>
            <a:r>
              <a:t>CONNECTING BUSINESSES WITH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512064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850" b="1" i="0">
                <a:solidFill>
                  <a:srgbClr val="C0F43C"/>
                </a:solidFill>
                <a:latin typeface="Anek Devanagari"/>
              </a:defRPr>
            </a:pPr>
            <a:r>
              <a:t>GLOBAL HEADQUARTERS</a:t>
            </a:r>
          </a:p>
          <a:p>
            <a:pPr algn="r">
              <a:spcAft>
                <a:spcPts val="200"/>
              </a:spcAft>
              <a:defRPr sz="1000" b="0" i="0">
                <a:solidFill>
                  <a:srgbClr val="FFFFFF"/>
                </a:solidFill>
                <a:latin typeface="Manrope"/>
              </a:defRPr>
            </a:pPr>
            <a:r>
              <a:t>Liberty House, DIFC, Dubai, UAE</a:t>
            </a:r>
          </a:p>
          <a:p>
            <a:pPr algn="r">
              <a:defRPr sz="1000" b="0" i="0">
                <a:solidFill>
                  <a:srgbClr val="E6EFF0"/>
                </a:solidFill>
                <a:latin typeface="Manrope"/>
              </a:defRPr>
            </a:pPr>
            <a:r>
              <a:t>info@tresconglobal.com  |  www.tresconglobal.com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