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99971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03. CONCEPT A  THE DATA MONUMENT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822960"/>
            <a:ext cx="9997135" cy="18288"/>
          </a:xfrm>
          <a:prstGeom prst="rect">
            <a:avLst/>
          </a:prstGeom>
          <a:solidFill>
            <a:srgbClr val="00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795528"/>
            <a:ext cx="73152" cy="73152"/>
          </a:xfrm>
          <a:prstGeom prst="rect">
            <a:avLst/>
          </a:prstGeom>
          <a:solidFill>
            <a:srgbClr val="C0F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4114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0" b="1" i="0">
                <a:solidFill>
                  <a:srgbClr val="C0F43C"/>
                </a:solidFill>
                <a:latin typeface="Arial"/>
              </a:defRPr>
            </a:pPr>
            <a:r>
              <a:t>1M+</a:t>
            </a:r>
          </a:p>
          <a:p>
            <a:pPr algn="l">
              <a:spcAft>
                <a:spcPts val="1200"/>
              </a:spcAft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CONNECTIONS CURATED</a:t>
            </a:r>
          </a:p>
          <a:p>
            <a:pPr algn="l">
              <a:lnSpc>
                <a:spcPct val="130000"/>
              </a:lnSpc>
              <a:defRPr sz="1250" b="0" i="0">
                <a:solidFill>
                  <a:srgbClr val="E6EFF0"/>
                </a:solidFill>
                <a:latin typeface="Calibri"/>
              </a:defRPr>
            </a:pPr>
            <a:r>
              <a:t>We facilitate strategic connections across global corridors, uniting enterprise buyers, policymakers, and private capital.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0" y="1371600"/>
            <a:ext cx="9144" cy="4389120"/>
          </a:xfrm>
          <a:prstGeom prst="rect">
            <a:avLst/>
          </a:prstGeom>
          <a:solidFill>
            <a:srgbClr val="00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146304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 i="0">
                <a:solidFill>
                  <a:srgbClr val="C0F43C"/>
                </a:solidFill>
                <a:latin typeface="Arial"/>
              </a:defRPr>
            </a:pPr>
            <a:r>
              <a:t>250k+</a:t>
            </a:r>
          </a:p>
          <a:p>
            <a:pPr algn="l">
              <a:spcAft>
                <a:spcPts val="200"/>
              </a:spcAft>
              <a:defRPr sz="950" b="1" i="0">
                <a:solidFill>
                  <a:srgbClr val="FFFFFF"/>
                </a:solidFill>
                <a:latin typeface="Arial"/>
              </a:defRPr>
            </a:pPr>
            <a:r>
              <a:t>ATTENDEES ENGAGED</a:t>
            </a:r>
          </a:p>
          <a:p>
            <a:pPr algn="l">
              <a:defRPr sz="1000" b="0" i="0">
                <a:solidFill>
                  <a:srgbClr val="E6EFF0"/>
                </a:solidFill>
                <a:latin typeface="Calibri"/>
              </a:defRPr>
            </a:pPr>
            <a:r>
              <a:t>Senior executives, enterprise buyers, and sovereign delegates.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83464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 i="0">
                <a:solidFill>
                  <a:srgbClr val="C0F43C"/>
                </a:solidFill>
                <a:latin typeface="Arial"/>
              </a:defRPr>
            </a:pPr>
            <a:r>
              <a:t>3,500+</a:t>
            </a:r>
          </a:p>
          <a:p>
            <a:pPr algn="l">
              <a:spcAft>
                <a:spcPts val="200"/>
              </a:spcAft>
              <a:defRPr sz="950" b="1" i="0">
                <a:solidFill>
                  <a:srgbClr val="FFFFFF"/>
                </a:solidFill>
                <a:latin typeface="Arial"/>
              </a:defRPr>
            </a:pPr>
            <a:r>
              <a:t>ACTIVE INVESTORS</a:t>
            </a:r>
          </a:p>
          <a:p>
            <a:pPr algn="l">
              <a:defRPr sz="1000" b="0" i="0">
                <a:solidFill>
                  <a:srgbClr val="E6EFF0"/>
                </a:solidFill>
                <a:latin typeface="Calibri"/>
              </a:defRPr>
            </a:pPr>
            <a:r>
              <a:t>VC funds, sovereign wealth, and private family offices.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420624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 i="0">
                <a:solidFill>
                  <a:srgbClr val="C0F43C"/>
                </a:solidFill>
                <a:latin typeface="Arial"/>
              </a:defRPr>
            </a:pPr>
            <a:r>
              <a:t>120+</a:t>
            </a:r>
          </a:p>
          <a:p>
            <a:pPr algn="l">
              <a:spcAft>
                <a:spcPts val="200"/>
              </a:spcAft>
              <a:defRPr sz="950" b="1" i="0">
                <a:solidFill>
                  <a:srgbClr val="FFFFFF"/>
                </a:solidFill>
                <a:latin typeface="Arial"/>
              </a:defRPr>
            </a:pPr>
            <a:r>
              <a:t>COUNTRIES</a:t>
            </a:r>
          </a:p>
          <a:p>
            <a:pPr algn="l">
              <a:defRPr sz="1000" b="0" i="0">
                <a:solidFill>
                  <a:srgbClr val="E6EFF0"/>
                </a:solidFill>
                <a:latin typeface="Calibri"/>
              </a:defRPr>
            </a:pPr>
            <a:r>
              <a:t>Connecting international tech ecosystems on a global scale.</a:t>
            </a:r>
          </a:p>
        </p:txBody>
      </p:sp>
      <p:pic>
        <p:nvPicPr>
          <p:cNvPr id="10" name="Picture 9" descr="trescon_10_year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89320"/>
            <a:ext cx="82296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99971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03. CONCEPT B  THE COORDINATE INFOGRAPHIC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822960"/>
            <a:ext cx="9997135" cy="18288"/>
          </a:xfrm>
          <a:prstGeom prst="rect">
            <a:avLst/>
          </a:prstGeom>
          <a:solidFill>
            <a:srgbClr val="00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795528"/>
            <a:ext cx="73152" cy="73152"/>
          </a:xfrm>
          <a:prstGeom prst="rect">
            <a:avLst/>
          </a:prstGeom>
          <a:solidFill>
            <a:srgbClr val="C0F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3383280"/>
            <a:ext cx="9997135" cy="9144"/>
          </a:xfrm>
          <a:prstGeom prst="rect">
            <a:avLst/>
          </a:prstGeom>
          <a:solidFill>
            <a:srgbClr val="00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390" y="1371600"/>
            <a:ext cx="9144" cy="4114800"/>
          </a:xfrm>
          <a:prstGeom prst="rect">
            <a:avLst/>
          </a:prstGeom>
          <a:solidFill>
            <a:srgbClr val="00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85662" y="3273552"/>
            <a:ext cx="219456" cy="219456"/>
          </a:xfrm>
          <a:prstGeom prst="ellipse">
            <a:avLst/>
          </a:prstGeom>
          <a:solidFill>
            <a:srgbClr val="C0F43C"/>
          </a:solidFill>
          <a:ln w="25400">
            <a:solidFill>
              <a:srgbClr val="1112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463040"/>
            <a:ext cx="43891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4200" b="1" i="0">
                <a:solidFill>
                  <a:srgbClr val="C0F43C"/>
                </a:solidFill>
                <a:latin typeface="Arial"/>
              </a:defRPr>
            </a:pPr>
            <a:r>
              <a:t>250k+</a:t>
            </a:r>
          </a:p>
          <a:p>
            <a:pPr algn="l">
              <a:spcAft>
                <a:spcPts val="400"/>
              </a:spcAft>
              <a:defRPr sz="950" b="1" i="0">
                <a:solidFill>
                  <a:srgbClr val="FFFFFF"/>
                </a:solidFill>
                <a:latin typeface="Arial"/>
              </a:defRPr>
            </a:pPr>
            <a:r>
              <a:t>GLOBAL ATTENDEES</a:t>
            </a:r>
          </a:p>
          <a:p>
            <a:pPr algn="l">
              <a:lnSpc>
                <a:spcPct val="120000"/>
              </a:lnSpc>
              <a:defRPr sz="1000" b="0" i="0">
                <a:solidFill>
                  <a:srgbClr val="E6EFF0"/>
                </a:solidFill>
                <a:latin typeface="Calibri"/>
              </a:defRPr>
            </a:pPr>
            <a:r>
              <a:t>Uniting enterprise decision-makers and technology innovators.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43891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4200" b="1" i="0">
                <a:solidFill>
                  <a:srgbClr val="C0F43C"/>
                </a:solidFill>
                <a:latin typeface="Arial"/>
              </a:defRPr>
            </a:pPr>
            <a:r>
              <a:t>3,500+</a:t>
            </a:r>
          </a:p>
          <a:p>
            <a:pPr algn="l">
              <a:spcAft>
                <a:spcPts val="400"/>
              </a:spcAft>
              <a:defRPr sz="950" b="1" i="0">
                <a:solidFill>
                  <a:srgbClr val="FFFFFF"/>
                </a:solidFill>
                <a:latin typeface="Arial"/>
              </a:defRPr>
            </a:pPr>
            <a:r>
              <a:t>ACTIVE INVESTORS</a:t>
            </a:r>
          </a:p>
          <a:p>
            <a:pPr algn="l">
              <a:lnSpc>
                <a:spcPct val="120000"/>
              </a:lnSpc>
              <a:defRPr sz="1000" b="0" i="0">
                <a:solidFill>
                  <a:srgbClr val="E6EFF0"/>
                </a:solidFill>
                <a:latin typeface="Calibri"/>
              </a:defRPr>
            </a:pPr>
            <a:r>
              <a:t>VC funds, sovereign wealth, and private family offices.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66160"/>
            <a:ext cx="43891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4200" b="1" i="0">
                <a:solidFill>
                  <a:srgbClr val="C0F43C"/>
                </a:solidFill>
                <a:latin typeface="Arial"/>
              </a:defRPr>
            </a:pPr>
            <a:r>
              <a:t>500+</a:t>
            </a:r>
          </a:p>
          <a:p>
            <a:pPr algn="l">
              <a:spcAft>
                <a:spcPts val="400"/>
              </a:spcAft>
              <a:defRPr sz="950" b="1" i="0">
                <a:solidFill>
                  <a:srgbClr val="FFFFFF"/>
                </a:solidFill>
                <a:latin typeface="Arial"/>
              </a:defRPr>
            </a:pPr>
            <a:r>
              <a:t>EXECUTED SUMMITS</a:t>
            </a:r>
          </a:p>
          <a:p>
            <a:pPr algn="l">
              <a:lnSpc>
                <a:spcPct val="120000"/>
              </a:lnSpc>
              <a:defRPr sz="1000" b="0" i="0">
                <a:solidFill>
                  <a:srgbClr val="E6EFF0"/>
                </a:solidFill>
                <a:latin typeface="Calibri"/>
              </a:defRPr>
            </a:pPr>
            <a:r>
              <a:t>Summets curating cross-border tech corridors.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66160"/>
            <a:ext cx="43891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4200" b="1" i="0">
                <a:solidFill>
                  <a:srgbClr val="C0F43C"/>
                </a:solidFill>
                <a:latin typeface="Arial"/>
              </a:defRPr>
            </a:pPr>
            <a:r>
              <a:t>120+</a:t>
            </a:r>
          </a:p>
          <a:p>
            <a:pPr algn="l">
              <a:spcAft>
                <a:spcPts val="400"/>
              </a:spcAft>
              <a:defRPr sz="950" b="1" i="0">
                <a:solidFill>
                  <a:srgbClr val="FFFFFF"/>
                </a:solidFill>
                <a:latin typeface="Arial"/>
              </a:defRPr>
            </a:pPr>
            <a:r>
              <a:t>COUNTRIES</a:t>
            </a:r>
          </a:p>
          <a:p>
            <a:pPr algn="l">
              <a:lnSpc>
                <a:spcPct val="120000"/>
              </a:lnSpc>
              <a:defRPr sz="1000" b="0" i="0">
                <a:solidFill>
                  <a:srgbClr val="E6EFF0"/>
                </a:solidFill>
                <a:latin typeface="Calibri"/>
              </a:defRPr>
            </a:pPr>
            <a:r>
              <a:t>Scale of international diplomatic and commercial reach.</a:t>
            </a:r>
          </a:p>
        </p:txBody>
      </p:sp>
      <p:pic>
        <p:nvPicPr>
          <p:cNvPr id="12" name="Picture 11" descr="trescon_10_year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89320"/>
            <a:ext cx="82296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99971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03. CONCEPT C  THE CINEMATIC NARRATIVE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822960"/>
            <a:ext cx="9997135" cy="18288"/>
          </a:xfrm>
          <a:prstGeom prst="rect">
            <a:avLst/>
          </a:prstGeom>
          <a:solidFill>
            <a:srgbClr val="00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795528"/>
            <a:ext cx="73152" cy="73152"/>
          </a:xfrm>
          <a:prstGeom prst="rect">
            <a:avLst/>
          </a:prstGeom>
          <a:solidFill>
            <a:srgbClr val="C0F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nhanced_concept4_page_35_img_4_1920x1280.png"/>
          <p:cNvPicPr>
            <a:picLocks noChangeAspect="1"/>
          </p:cNvPicPr>
          <p:nvPr/>
        </p:nvPicPr>
        <p:blipFill>
          <a:blip r:embed="rId2"/>
          <a:srcRect l="15000" r="15000" t="5000" b="5000"/>
          <a:stretch>
            <a:fillRect/>
          </a:stretch>
        </p:blipFill>
        <p:spPr>
          <a:xfrm>
            <a:off x="1097280" y="1280160"/>
            <a:ext cx="4389120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0" y="1280160"/>
            <a:ext cx="9144" cy="4480560"/>
          </a:xfrm>
          <a:prstGeom prst="rect">
            <a:avLst/>
          </a:prstGeom>
          <a:solidFill>
            <a:srgbClr val="00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137160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600" b="1" i="0">
                <a:solidFill>
                  <a:srgbClr val="C0F43C"/>
                </a:solidFill>
                <a:latin typeface="Arial"/>
              </a:defRPr>
            </a:pPr>
            <a:r>
              <a:t>1M+</a:t>
            </a:r>
          </a:p>
          <a:p>
            <a:pPr algn="l">
              <a:spcAft>
                <a:spcPts val="400"/>
              </a:spcAft>
              <a:defRPr sz="950" b="1" i="0">
                <a:solidFill>
                  <a:srgbClr val="FFFFFF"/>
                </a:solidFill>
                <a:latin typeface="Arial"/>
              </a:defRPr>
            </a:pPr>
            <a:r>
              <a:t>CONNECTIONS</a:t>
            </a:r>
          </a:p>
          <a:p>
            <a:pPr algn="l">
              <a:defRPr sz="1000" b="0" i="0">
                <a:solidFill>
                  <a:srgbClr val="E6EFF0"/>
                </a:solidFill>
                <a:latin typeface="Calibri"/>
              </a:defRPr>
            </a:pPr>
            <a:r>
              <a:t>High-value business matches across global platforms.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83464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600" b="1" i="0">
                <a:solidFill>
                  <a:srgbClr val="C0F43C"/>
                </a:solidFill>
                <a:latin typeface="Arial"/>
              </a:defRPr>
            </a:pPr>
            <a:r>
              <a:t>250k+</a:t>
            </a:r>
          </a:p>
          <a:p>
            <a:pPr algn="l">
              <a:spcAft>
                <a:spcPts val="400"/>
              </a:spcAft>
              <a:defRPr sz="950" b="1" i="0">
                <a:solidFill>
                  <a:srgbClr val="FFFFFF"/>
                </a:solidFill>
                <a:latin typeface="Arial"/>
              </a:defRPr>
            </a:pPr>
            <a:r>
              <a:t>ATTENDEES</a:t>
            </a:r>
          </a:p>
          <a:p>
            <a:pPr algn="l">
              <a:defRPr sz="1000" b="0" i="0">
                <a:solidFill>
                  <a:srgbClr val="E6EFF0"/>
                </a:solidFill>
                <a:latin typeface="Calibri"/>
              </a:defRPr>
            </a:pPr>
            <a:r>
              <a:t>Engaging senior executives and enterprise buyers.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429768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600" b="1" i="0">
                <a:solidFill>
                  <a:srgbClr val="C0F43C"/>
                </a:solidFill>
                <a:latin typeface="Arial"/>
              </a:defRPr>
            </a:pPr>
            <a:r>
              <a:t>3.5k+</a:t>
            </a:r>
          </a:p>
          <a:p>
            <a:pPr algn="l">
              <a:spcAft>
                <a:spcPts val="400"/>
              </a:spcAft>
              <a:defRPr sz="950" b="1" i="0">
                <a:solidFill>
                  <a:srgbClr val="FFFFFF"/>
                </a:solidFill>
                <a:latin typeface="Arial"/>
              </a:defRPr>
            </a:pPr>
            <a:r>
              <a:t>INVESTORS</a:t>
            </a:r>
          </a:p>
          <a:p>
            <a:pPr algn="l">
              <a:defRPr sz="1000" b="0" i="0">
                <a:solidFill>
                  <a:srgbClr val="E6EFF0"/>
                </a:solidFill>
                <a:latin typeface="Calibri"/>
              </a:defRPr>
            </a:pPr>
            <a:r>
              <a:t>Venture capital and sovereign wealth networks.</a:t>
            </a:r>
          </a:p>
        </p:txBody>
      </p:sp>
      <p:pic>
        <p:nvPicPr>
          <p:cNvPr id="10" name="Picture 9" descr="trescon_10_year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455" y="5989320"/>
            <a:ext cx="82296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